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9" r:id="rId4"/>
    <p:sldId id="260" r:id="rId5"/>
    <p:sldId id="266" r:id="rId6"/>
    <p:sldId id="268" r:id="rId7"/>
    <p:sldId id="273" r:id="rId8"/>
    <p:sldId id="275" r:id="rId9"/>
    <p:sldId id="276" r:id="rId10"/>
    <p:sldId id="279" r:id="rId11"/>
    <p:sldId id="277" r:id="rId12"/>
    <p:sldId id="270" r:id="rId13"/>
    <p:sldId id="271" r:id="rId14"/>
    <p:sldId id="261" r:id="rId15"/>
    <p:sldId id="262" r:id="rId16"/>
    <p:sldId id="280" r:id="rId17"/>
    <p:sldId id="284" r:id="rId18"/>
    <p:sldId id="285" r:id="rId19"/>
    <p:sldId id="281" r:id="rId20"/>
    <p:sldId id="286" r:id="rId21"/>
    <p:sldId id="287" r:id="rId22"/>
    <p:sldId id="282" r:id="rId23"/>
    <p:sldId id="288" r:id="rId24"/>
    <p:sldId id="289" r:id="rId25"/>
    <p:sldId id="283" r:id="rId26"/>
    <p:sldId id="290" r:id="rId27"/>
    <p:sldId id="272" r:id="rId28"/>
    <p:sldId id="26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4"/>
    <p:restoredTop sz="94651"/>
  </p:normalViewPr>
  <p:slideViewPr>
    <p:cSldViewPr snapToGrid="0">
      <p:cViewPr varScale="1">
        <p:scale>
          <a:sx n="115" d="100"/>
          <a:sy n="115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DDA2-498F-2112-AACB-E18965D22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3B782-E1FE-5183-150D-C408AF81D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2DD03-1BF0-0681-10BC-BD7AE83C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B65E4-C557-DE2B-3DD2-97786DA1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FD791-3301-CA5E-20E9-8EA709E0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1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E563-ACCD-C596-7000-3DDA7B179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49891-B66E-65DB-3811-5770A33A4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23563-96DD-2990-D77D-4B3F41622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7C1B8-BA1A-C980-8CBC-86C42F4E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0D9AC-2DA3-A5BA-2FE1-215C607B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9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BE4FE-B0BB-1264-8984-B5AE86CE5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2E2F5-A59D-EDD6-E29B-845AA3FF0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A3257-74C5-C0CA-031E-9C38B190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C1C1F-5844-D75D-A111-96028641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A9747-93A3-B037-8655-C8F83AE5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2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FC34-A115-082E-826A-B43EF7D5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D0143-8009-CF64-C32B-A2352D146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FA6B5-EF2B-39B7-DDD3-0EA474272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A0C2E-10D7-E2A1-31FD-04AA995D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45F33-8BD1-CCE7-4F0C-509366795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D1030-4AAF-760C-F78D-553EC69E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7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06E2-84F6-02E0-2109-B83DF417E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82ED1-D919-E356-0A8B-F140D69F2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5B0E7-4B4C-CEF6-DBD6-C3191076B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1DB0E-527B-7BBC-5CD4-1E9D8B111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F1ED7-F270-8EE8-8E8B-CA390898A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98C9F-E44D-7D03-8082-9FDDC83D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720C0F-A8BF-9D33-0816-DF866C0D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19167-0018-99CC-35C3-EF30AFAC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11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3BD4-E1BE-E15C-7CFC-11D8C5D2A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D99DF-F609-2A92-D0DB-A1FA81EFD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9045B-1714-9427-48DE-0F41AC29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00AD2-6F5E-D7EF-7D2C-8E028713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BCD2D-E716-7DE7-1C08-1106DDE3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AE7672-13C2-D108-B4C0-A5AB6DA3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B7A4E-3944-AC32-DF86-30AC63941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2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900D-7881-B318-1905-8146FD0E4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F11F-BE7F-63F8-2EB4-89BCDCC90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55949-D9F0-3516-B909-EE8375BE9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C6CB3-D3FE-112A-1A81-078BE71C7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36EC7-607F-9A77-BF26-2D3C5D32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9D3BF-5FF5-DA3F-6C51-66F37121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4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DE12-1D09-4B70-EB2E-E9735E635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D00E16-1555-BA23-44FE-FF46E2B68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D9EFE-23F0-0C47-C544-5F7C1A011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BB319-1F89-BD78-ACC1-1A665538F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3A749-0542-1AED-1D37-DABDC56F2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41AA3-D854-6CA2-03BF-8332BB4D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14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E34F-96CD-810A-87C7-9B9DB654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B76011-B2C5-65E1-1532-C60AB39DC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E40E5-C782-A387-48E0-5117990F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28D9D-90CA-2BD8-6DE0-BC9B99DF3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C1649-C44A-1358-125B-01A6E807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3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A72994-0BA1-C631-1428-DC8EA31AEC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CE4B9-A292-6D89-7146-102FCA59F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4709A-2608-9DFB-DF7D-BCC2E4EE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B5809-E8E2-42D9-777E-E1EB951B3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9C74D-DA8F-06BA-6398-4450DD39F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7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AFB324-B8CF-45FC-26F8-EEC99B10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C772B-7559-88D3-DAB9-08CFB35BA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20A31-876B-534F-B824-892AFAC80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A52404-926B-9644-A6FB-079C6A79FCCA}" type="datetimeFigureOut">
              <a:rPr lang="en-US" smtClean="0"/>
              <a:t>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8EAF9-E82F-99B4-9459-00CF0CAF6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52023-9333-E8FC-F043-56052C7D6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2DC3D-69C3-1B44-B5CF-C2A0F168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asoc.2023.110013" TargetMode="External"/><Relationship Id="rId2" Type="http://schemas.openxmlformats.org/officeDocument/2006/relationships/hyperlink" Target="https://doi.org/10.1016/j.knosys.2022.10856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neunet.2022.06.008" TargetMode="External"/><Relationship Id="rId5" Type="http://schemas.openxmlformats.org/officeDocument/2006/relationships/hyperlink" Target="https://doi.org/10.1016/j.cose.2021.102210" TargetMode="External"/><Relationship Id="rId4" Type="http://schemas.openxmlformats.org/officeDocument/2006/relationships/hyperlink" Target="https://doi.org/10.1109/TNNLS.2023.3245123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DAC12-2332-EF6B-2A81-66A682F08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DS-670:Capstone:big Data &amp; data Science</a:t>
            </a:r>
            <a:br>
              <a:rPr lang="en-US" b="1" i="0" dirty="0">
                <a:solidFill>
                  <a:srgbClr val="000000"/>
                </a:solidFill>
                <a:effectLst/>
                <a:latin typeface="inherit"/>
              </a:rPr>
            </a:b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 Insurance Fraud Detection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1D84B-CD04-A2F3-0E99-655E7ACE7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Ravindra Babu Ponnapula</a:t>
            </a:r>
          </a:p>
          <a:p>
            <a:pPr algn="r"/>
            <a:r>
              <a:rPr lang="en-US" sz="1200" b="1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Praveen Ravulapalli</a:t>
            </a:r>
          </a:p>
          <a:p>
            <a:pPr algn="r"/>
            <a:r>
              <a:rPr lang="en-US" sz="1200" b="1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Akhil Karumanchi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849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5BFC-3975-8BC1-2894-F2AF7385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6FBB5-15BA-ED26-79D4-01D2A52BD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 a predictive model to identify potentially fraudulent insurance claims.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Insurance claims data with multiple features.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Fraud Reported (Yes/No)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469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ADC14-AA46-BACE-7162-2323A995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Auto Insurance Fraud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45CC-190F-3564-EED6-841C1AF1B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Auto Insurance Fraud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Definition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Intentional deception in insurance claim processes to obtain financial benefits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Typologies of Fraud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Fraud: Exaggeration of legitimate claims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Fraud: Completely fabricated claims or staged incidents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149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0B07F-7F2B-07C6-745B-B3B3C8C37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78204-4A20-E461-8BA6-D833B0949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Perspective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annual insurance fraud losses: $40-80 billion in the United States alone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10-20% of all insurance claims show fraudulent characteristics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economic burden on insurance companies and consumers</a:t>
            </a:r>
          </a:p>
        </p:txBody>
      </p:sp>
    </p:spTree>
    <p:extLst>
      <p:ext uri="{BB962C8B-B14F-4D97-AF65-F5344CB8AC3E}">
        <p14:creationId xmlns:p14="http://schemas.microsoft.com/office/powerpoint/2010/main" val="4100485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F331-5FCC-1645-8171-D08FF65F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Need</a:t>
            </a:r>
            <a:br>
              <a:rPr lang="en-US" b="0" i="0" dirty="0">
                <a:effectLst/>
                <a:latin typeface="var(--font-fk-grotesk)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E02E1-5143-77F7-2205-DBB48D529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raud is a pervasive issue that significantly impacts the insurance industry, leading to increased premiums for honest customers and substantial financial losses for companies. There is a critical need for more sophisticated and accurate fraud detection methods to:</a:t>
            </a:r>
          </a:p>
          <a:p>
            <a:pPr>
              <a:lnSpc>
                <a:spcPct val="100000"/>
              </a:lnSpc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financial losses due to fraudulent claims</a:t>
            </a:r>
          </a:p>
          <a:p>
            <a:pPr>
              <a:lnSpc>
                <a:spcPct val="100000"/>
              </a:lnSpc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the efficiency of claims processing</a:t>
            </a:r>
          </a:p>
          <a:p>
            <a:pPr>
              <a:lnSpc>
                <a:spcPct val="100000"/>
              </a:lnSpc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fair pricing for honest customers</a:t>
            </a:r>
          </a:p>
          <a:p>
            <a:pPr>
              <a:lnSpc>
                <a:spcPct val="100000"/>
              </a:lnSpc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overall trust in the insurance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addresses this need by developing an advanced, data-driven fraud detection system that can quickly and accurately identify potentially fraudulent claims.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36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71AE8-7CC8-F78F-72BB-76510740C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929F-3D1C-6C6A-B11A-5E576FC20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5A8A-166C-7FCE-0C3D-00C9B0379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primary problem this project aims to solve is: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can we develop a robust, accurate, and scalable machine learning system to automatically detect fraudulent insurance claims in real-time, reducing financial losses for insurance companies while maintaining a positive experience for legitimate claimants?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Sub-problems include:</a:t>
            </a:r>
          </a:p>
          <a:p>
            <a:pPr>
              <a:lnSpc>
                <a:spcPct val="100000"/>
              </a:lnSpc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the most relevant features for fraud detection</a:t>
            </a:r>
          </a:p>
          <a:p>
            <a:pPr>
              <a:lnSpc>
                <a:spcPct val="100000"/>
              </a:lnSpc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imbalanced datasets (as fraudulent claims are typically a small percentage of total claims)</a:t>
            </a:r>
          </a:p>
          <a:p>
            <a:pPr>
              <a:lnSpc>
                <a:spcPct val="100000"/>
              </a:lnSpc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Developing models that can adapt to evolving fraud tactics</a:t>
            </a:r>
          </a:p>
          <a:p>
            <a:pPr>
              <a:lnSpc>
                <a:spcPct val="100000"/>
              </a:lnSpc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an interpretable system that can provide insights into why a claim is flagged as potentially fraudulent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578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E39F-4075-BE1D-0B9A-9A6ED560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28128-5B25-A894-9052-89C37A65E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15-20 relevant papers/sources, taking notes on: 2. Methodologies used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and results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gaps identified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 the information to identify trends</a:t>
            </a:r>
          </a:p>
        </p:txBody>
      </p:sp>
    </p:spTree>
    <p:extLst>
      <p:ext uri="{BB962C8B-B14F-4D97-AF65-F5344CB8AC3E}">
        <p14:creationId xmlns:p14="http://schemas.microsoft.com/office/powerpoint/2010/main" val="22843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76439CB1-D0BB-63D5-E32E-893B7AAA3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1278" y="903249"/>
            <a:ext cx="3635298" cy="5408341"/>
          </a:xfrm>
        </p:spPr>
      </p:pic>
    </p:spTree>
    <p:extLst>
      <p:ext uri="{BB962C8B-B14F-4D97-AF65-F5344CB8AC3E}">
        <p14:creationId xmlns:p14="http://schemas.microsoft.com/office/powerpoint/2010/main" val="124365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showing age vs total claim amount&#10;&#10;Description automatically generated">
            <a:extLst>
              <a:ext uri="{FF2B5EF4-FFF2-40B4-BE49-F238E27FC236}">
                <a16:creationId xmlns:a16="http://schemas.microsoft.com/office/drawing/2014/main" id="{2B944D39-8BAD-6ADD-7C70-29A6F90FD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4985" y="1371600"/>
            <a:ext cx="8390369" cy="4805363"/>
          </a:xfrm>
        </p:spPr>
      </p:pic>
    </p:spTree>
    <p:extLst>
      <p:ext uri="{BB962C8B-B14F-4D97-AF65-F5344CB8AC3E}">
        <p14:creationId xmlns:p14="http://schemas.microsoft.com/office/powerpoint/2010/main" val="426739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blue and orange bars&#10;&#10;Description automatically generated">
            <a:extLst>
              <a:ext uri="{FF2B5EF4-FFF2-40B4-BE49-F238E27FC236}">
                <a16:creationId xmlns:a16="http://schemas.microsoft.com/office/drawing/2014/main" id="{90246472-4E16-4EFA-D177-F987D20FD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0852" y="925513"/>
            <a:ext cx="8030295" cy="5251450"/>
          </a:xfrm>
        </p:spPr>
      </p:pic>
    </p:spTree>
    <p:extLst>
      <p:ext uri="{BB962C8B-B14F-4D97-AF65-F5344CB8AC3E}">
        <p14:creationId xmlns:p14="http://schemas.microsoft.com/office/powerpoint/2010/main" val="3219102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blue rectangular bars&#10;&#10;Description automatically generated">
            <a:extLst>
              <a:ext uri="{FF2B5EF4-FFF2-40B4-BE49-F238E27FC236}">
                <a16:creationId xmlns:a16="http://schemas.microsoft.com/office/drawing/2014/main" id="{B7AB7C8F-5415-02B8-D93E-C3AD200BA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4186" y="1750741"/>
            <a:ext cx="7243628" cy="4426222"/>
          </a:xfrm>
        </p:spPr>
      </p:pic>
    </p:spTree>
    <p:extLst>
      <p:ext uri="{BB962C8B-B14F-4D97-AF65-F5344CB8AC3E}">
        <p14:creationId xmlns:p14="http://schemas.microsoft.com/office/powerpoint/2010/main" val="2125323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9821F-639C-1C7C-F562-7ACFDE409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Chat</a:t>
            </a:r>
          </a:p>
        </p:txBody>
      </p:sp>
      <p:pic>
        <p:nvPicPr>
          <p:cNvPr id="9" name="Content Placeholder 8" descr="A diagram of a model&#10;&#10;Description automatically generated">
            <a:extLst>
              <a:ext uri="{FF2B5EF4-FFF2-40B4-BE49-F238E27FC236}">
                <a16:creationId xmlns:a16="http://schemas.microsoft.com/office/drawing/2014/main" id="{9D4527FB-4960-874D-EEE2-640EFA98D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9717" y="259773"/>
            <a:ext cx="4530437" cy="6233101"/>
          </a:xfrm>
        </p:spPr>
      </p:pic>
    </p:spTree>
    <p:extLst>
      <p:ext uri="{BB962C8B-B14F-4D97-AF65-F5344CB8AC3E}">
        <p14:creationId xmlns:p14="http://schemas.microsoft.com/office/powerpoint/2010/main" val="2781403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497D-D41C-9C15-BB7F-86060735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0C864C1-F957-0D40-B46E-8C2CE9FAF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4094" y="1516566"/>
            <a:ext cx="7409340" cy="4660397"/>
          </a:xfrm>
        </p:spPr>
      </p:pic>
    </p:spTree>
    <p:extLst>
      <p:ext uri="{BB962C8B-B14F-4D97-AF65-F5344CB8AC3E}">
        <p14:creationId xmlns:p14="http://schemas.microsoft.com/office/powerpoint/2010/main" val="2565267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860E-17E5-6FF6-EE94-A1838FB2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275A7-9F6E-3006-69B0-B71BB4D18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Strategy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Consulted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Digital Library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ScienceDirect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Scholar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Keywords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"Insurance fraud detection"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"Machine learning in fraud analysis"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"Predictive modeling for insurance claims"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"Fraud detection algorithms"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809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21A9-44E9-A64E-3B1B-EF9B29E3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Theoretical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E579F-B04A-B67C-6ED8-1B5489E99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121275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Fraud Detection Approaches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Systems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Simple, interpretable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 Limited adaptability, high false-positive rates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Methods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Techniques: Logistic Regression, Discriminant Analysis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Strengths: Statistical significance, interpretability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Assumes linear relationships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Approaches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Learning: </a:t>
            </a:r>
          </a:p>
          <a:p>
            <a:pPr marL="1143000" lvl="2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1143000" lvl="2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Machines</a:t>
            </a:r>
          </a:p>
          <a:p>
            <a:pPr marL="1143000" lvl="2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Learning: </a:t>
            </a:r>
          </a:p>
          <a:p>
            <a:pPr marL="1143000" lvl="2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techniques</a:t>
            </a:r>
          </a:p>
          <a:p>
            <a:pPr marL="1143000" lvl="2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algorithms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61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9A85C-7939-EDD3-55DD-F5CE386A4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3EBDE854-9C90-2A6F-CF96-63E429C6C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9300" y="2520176"/>
            <a:ext cx="5613400" cy="2611418"/>
          </a:xfrm>
        </p:spPr>
      </p:pic>
    </p:spTree>
    <p:extLst>
      <p:ext uri="{BB962C8B-B14F-4D97-AF65-F5344CB8AC3E}">
        <p14:creationId xmlns:p14="http://schemas.microsoft.com/office/powerpoint/2010/main" val="3177864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logistic regression&#10;&#10;Description automatically generated">
            <a:extLst>
              <a:ext uri="{FF2B5EF4-FFF2-40B4-BE49-F238E27FC236}">
                <a16:creationId xmlns:a16="http://schemas.microsoft.com/office/drawing/2014/main" id="{E7F1D294-8DAA-8314-F638-BD3CFAF01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686" y="858838"/>
            <a:ext cx="7050627" cy="5318125"/>
          </a:xfrm>
        </p:spPr>
      </p:pic>
    </p:spTree>
    <p:extLst>
      <p:ext uri="{BB962C8B-B14F-4D97-AF65-F5344CB8AC3E}">
        <p14:creationId xmlns:p14="http://schemas.microsoft.com/office/powerpoint/2010/main" val="2393466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line graph with blue and orange lines&#10;&#10;Description automatically generated">
            <a:extLst>
              <a:ext uri="{FF2B5EF4-FFF2-40B4-BE49-F238E27FC236}">
                <a16:creationId xmlns:a16="http://schemas.microsoft.com/office/drawing/2014/main" id="{A674B0FD-9BC7-3FE9-F2B1-3167AB0E93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7485" y="1025525"/>
            <a:ext cx="6817029" cy="5151438"/>
          </a:xfrm>
        </p:spPr>
      </p:pic>
    </p:spTree>
    <p:extLst>
      <p:ext uri="{BB962C8B-B14F-4D97-AF65-F5344CB8AC3E}">
        <p14:creationId xmlns:p14="http://schemas.microsoft.com/office/powerpoint/2010/main" val="3875868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7F20F-00DE-9C49-C19B-EEEDC75A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065E39C-3F05-00B1-0F24-782BBE60E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283" y="2676293"/>
            <a:ext cx="5928267" cy="2379101"/>
          </a:xfrm>
        </p:spPr>
      </p:pic>
    </p:spTree>
    <p:extLst>
      <p:ext uri="{BB962C8B-B14F-4D97-AF65-F5344CB8AC3E}">
        <p14:creationId xmlns:p14="http://schemas.microsoft.com/office/powerpoint/2010/main" val="260464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confusion matrix&#10;&#10;Description automatically generated with medium confidence">
            <a:extLst>
              <a:ext uri="{FF2B5EF4-FFF2-40B4-BE49-F238E27FC236}">
                <a16:creationId xmlns:a16="http://schemas.microsoft.com/office/drawing/2014/main" id="{B551BDE9-3674-863F-1D9C-DE6843189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5462" y="1014413"/>
            <a:ext cx="6621075" cy="5162550"/>
          </a:xfrm>
        </p:spPr>
      </p:pic>
    </p:spTree>
    <p:extLst>
      <p:ext uri="{BB962C8B-B14F-4D97-AF65-F5344CB8AC3E}">
        <p14:creationId xmlns:p14="http://schemas.microsoft.com/office/powerpoint/2010/main" val="4190045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CBB3F6-08DE-6DB3-10C4-CF93D565E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703" y="1182688"/>
            <a:ext cx="6476594" cy="4994275"/>
          </a:xfrm>
        </p:spPr>
      </p:pic>
    </p:spTree>
    <p:extLst>
      <p:ext uri="{BB962C8B-B14F-4D97-AF65-F5344CB8AC3E}">
        <p14:creationId xmlns:p14="http://schemas.microsoft.com/office/powerpoint/2010/main" val="38279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7AD83-325F-CF67-EDB9-F54DF64F2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 Classifier</a:t>
            </a:r>
          </a:p>
        </p:txBody>
      </p:sp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3578A543-5849-621F-0A29-F65BB3A12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9450" y="2297151"/>
            <a:ext cx="5753100" cy="2758243"/>
          </a:xfrm>
        </p:spPr>
      </p:pic>
    </p:spTree>
    <p:extLst>
      <p:ext uri="{BB962C8B-B14F-4D97-AF65-F5344CB8AC3E}">
        <p14:creationId xmlns:p14="http://schemas.microsoft.com/office/powerpoint/2010/main" val="4091107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18D671A-4D6E-2030-B86B-85CF8088B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1598" y="1025525"/>
            <a:ext cx="6588804" cy="5151438"/>
          </a:xfrm>
        </p:spPr>
      </p:pic>
    </p:spTree>
    <p:extLst>
      <p:ext uri="{BB962C8B-B14F-4D97-AF65-F5344CB8AC3E}">
        <p14:creationId xmlns:p14="http://schemas.microsoft.com/office/powerpoint/2010/main" val="3447225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a line&#10;&#10;Description automatically generated">
            <a:extLst>
              <a:ext uri="{FF2B5EF4-FFF2-40B4-BE49-F238E27FC236}">
                <a16:creationId xmlns:a16="http://schemas.microsoft.com/office/drawing/2014/main" id="{67ACDACF-BEE4-7D00-E683-9C4FAB8AC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2044" y="969963"/>
            <a:ext cx="7127911" cy="5207000"/>
          </a:xfrm>
        </p:spPr>
      </p:pic>
    </p:spTree>
    <p:extLst>
      <p:ext uri="{BB962C8B-B14F-4D97-AF65-F5344CB8AC3E}">
        <p14:creationId xmlns:p14="http://schemas.microsoft.com/office/powerpoint/2010/main" val="2263655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2248-7439-F761-09A5-6E09C2186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SVM(Support Vector Machine)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BCE0E3B0-7FB4-ADD0-B886-E7F889722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7163" y="2743200"/>
            <a:ext cx="7603758" cy="2436473"/>
          </a:xfrm>
        </p:spPr>
      </p:pic>
    </p:spTree>
    <p:extLst>
      <p:ext uri="{BB962C8B-B14F-4D97-AF65-F5344CB8AC3E}">
        <p14:creationId xmlns:p14="http://schemas.microsoft.com/office/powerpoint/2010/main" val="1837829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confusion matrix&#10;&#10;Description automatically generated">
            <a:extLst>
              <a:ext uri="{FF2B5EF4-FFF2-40B4-BE49-F238E27FC236}">
                <a16:creationId xmlns:a16="http://schemas.microsoft.com/office/drawing/2014/main" id="{8CDAC376-DDE5-6BB6-F0DD-B8E0B157C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7861" y="1081088"/>
            <a:ext cx="6556278" cy="5095875"/>
          </a:xfrm>
        </p:spPr>
      </p:pic>
    </p:spTree>
    <p:extLst>
      <p:ext uri="{BB962C8B-B14F-4D97-AF65-F5344CB8AC3E}">
        <p14:creationId xmlns:p14="http://schemas.microsoft.com/office/powerpoint/2010/main" val="1249809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7353C-B815-CF29-1537-562D653A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428F5-5D56-435B-4783-DC050D86C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342900" marR="0" lvl="0" indent="-342900" algn="l">
              <a:lnSpc>
                <a:spcPct val="10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Xu, Y.; Wei, F.; Yang, W.; Wang, J. Fraud Detection Using Graph Neural Networks: A Survey and Benchmarking. Knowledge-Based Systems 2022, 243, 108560.</a:t>
            </a:r>
            <a:b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https://doi.org/10.1016/j.knosys.2022.108560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Wang, Z.; Yang, Q.; Zhang, Z.; Jin, H. A Hybrid Ensemble Learning Model for Insurance Fraud Detection. Applied Soft Computing 2023, 135, 110013.</a:t>
            </a:r>
            <a:b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https://doi.org/10.1016/j.asoc.2023.110013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He, T.; Pan, Y.; Zhang, Z.; Zhou, W. Federated Learning for Fraud Detection in Distributed Financial Systems. IEEE Transactions on Neural Networks and Learning Systems 2023, 34 (5), 2201–2213.</a:t>
            </a:r>
            <a:b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https://doi.org/10.1109/TNNLS.2023.3245123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Chen, L.; Wang, X.; Huang, Q.; Wu, Y. Financial Fraud Detection Using Ensemble Learning and Data Augmentation Techniques. Computers &amp; Security 2022, 104, 102210.</a:t>
            </a:r>
            <a:b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https://doi.org/10.1016/j.cose.2021.102210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0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Guo, H.; Huang, C.; Lu, Q.; Zhang, J. Adaptive Fraud Detection with Reinforcement Learning and Deep Neural Networks. Neural Networks 2022, 153, 217–226.</a:t>
            </a:r>
            <a:b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https://doi.org/10.1016/j.neunet.2022.06.008</a:t>
            </a:r>
            <a:endParaRPr lang="en-US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836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D9B3A-2E21-09CE-3658-BB2135B74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9702"/>
            <a:ext cx="10515600" cy="48372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Thank You</a:t>
            </a:r>
          </a:p>
        </p:txBody>
      </p:sp>
    </p:spTree>
    <p:extLst>
      <p:ext uri="{BB962C8B-B14F-4D97-AF65-F5344CB8AC3E}">
        <p14:creationId xmlns:p14="http://schemas.microsoft.com/office/powerpoint/2010/main" val="496855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752</Words>
  <Application>Microsoft Macintosh PowerPoint</Application>
  <PresentationFormat>Widescreen</PresentationFormat>
  <Paragraphs>88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Arial</vt:lpstr>
      <vt:lpstr>inherit</vt:lpstr>
      <vt:lpstr>Open Sans</vt:lpstr>
      <vt:lpstr>Times New Roman</vt:lpstr>
      <vt:lpstr>var(--font-fk-grotesk)</vt:lpstr>
      <vt:lpstr>Office Theme</vt:lpstr>
      <vt:lpstr>DS-670:Capstone:big Data &amp; data Science Auto Insurance Fraud Detection</vt:lpstr>
      <vt:lpstr>Project Overview</vt:lpstr>
      <vt:lpstr>Introduction to Auto Insurance Fraud </vt:lpstr>
      <vt:lpstr>Economic Impact</vt:lpstr>
      <vt:lpstr> Business Need </vt:lpstr>
      <vt:lpstr>Problem Definition</vt:lpstr>
      <vt:lpstr>About Data</vt:lpstr>
      <vt:lpstr>PowerPoint Presentation</vt:lpstr>
      <vt:lpstr>PowerPoint Presentation</vt:lpstr>
      <vt:lpstr>PowerPoint Presentation</vt:lpstr>
      <vt:lpstr>PowerPoint Presentation</vt:lpstr>
      <vt:lpstr>Flow Chat</vt:lpstr>
      <vt:lpstr>Architecture</vt:lpstr>
      <vt:lpstr>Literature Review Methodology</vt:lpstr>
      <vt:lpstr>Key Theoretical Frameworks</vt:lpstr>
      <vt:lpstr>Logistic Regression</vt:lpstr>
      <vt:lpstr>PowerPoint Presentation</vt:lpstr>
      <vt:lpstr>PowerPoint Presentation</vt:lpstr>
      <vt:lpstr>Random Forest Classifier</vt:lpstr>
      <vt:lpstr>PowerPoint Presentation</vt:lpstr>
      <vt:lpstr>PowerPoint Presentation</vt:lpstr>
      <vt:lpstr>XGB Classifier</vt:lpstr>
      <vt:lpstr>PowerPoint Presentation</vt:lpstr>
      <vt:lpstr>PowerPoint Presentation</vt:lpstr>
      <vt:lpstr>SVM(Support Vector Machine)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Ravindra Babu</dc:creator>
  <cp:lastModifiedBy>Ponnapula, Ravindra Babu</cp:lastModifiedBy>
  <cp:revision>12</cp:revision>
  <dcterms:created xsi:type="dcterms:W3CDTF">2024-12-08T20:20:45Z</dcterms:created>
  <dcterms:modified xsi:type="dcterms:W3CDTF">2025-01-11T19:23:56Z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2024-12-09T23:14:23Z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350c54e6-0497-4fff-b117-17d8181c8aac</vt:lpwstr>
  </property>
  <property fmtid="{D5CDD505-2E9C-101B-9397-08002B2CF9AE}" pid="7" name="MSIP_Label_defa4170-0d19-0005-0004-bc88714345d2_ActionId">
    <vt:lpwstr>c176bde9-92fd-40df-ad3f-cc5b9e480d45</vt:lpwstr>
  </property>
  <property fmtid="{D5CDD505-2E9C-101B-9397-08002B2CF9AE}" pid="8" name="MSIP_Label_defa4170-0d19-0005-0004-bc88714345d2_ContentBits">
    <vt:lpwstr>0</vt:lpwstr>
  </property>
</Properties>
</file>